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Popularity Score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71-46EF-A6EC-449BB530162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E71-46EF-A6EC-449BB530162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E71-46EF-A6EC-449BB5301625}"/>
              </c:ext>
            </c:extLst>
          </c:dPt>
          <c:dPt>
            <c:idx val="3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E71-46EF-A6EC-449BB5301625}"/>
              </c:ext>
            </c:extLst>
          </c:dPt>
          <c:dPt>
            <c:idx val="4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E71-46EF-A6EC-449BB5301625}"/>
              </c:ext>
            </c:extLst>
          </c:dPt>
          <c:dPt>
            <c:idx val="5"/>
            <c:invertIfNegative val="0"/>
            <c:bubble3D val="0"/>
            <c:spPr>
              <a:solidFill>
                <a:srgbClr val="FF2D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E71-46EF-A6EC-449BB5301625}"/>
              </c:ext>
            </c:extLst>
          </c:dPt>
          <c:dPt>
            <c:idx val="6"/>
            <c:invertIfNegative val="0"/>
            <c:bubble3D val="0"/>
            <c:spPr>
              <a:solidFill>
                <a:srgbClr val="FF2D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E71-46EF-A6EC-449BB5301625}"/>
              </c:ext>
            </c:extLst>
          </c:dPt>
          <c:dPt>
            <c:idx val="7"/>
            <c:invertIfNegative val="0"/>
            <c:bubble3D val="0"/>
            <c:spPr>
              <a:solidFill>
                <a:srgbClr val="8A9B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E71-46EF-A6EC-449BB530162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Crossover,
Flex,Perf</c:v>
                </c:pt>
                <c:pt idx="1">
                  <c:v>Flex Fuel,
Diesel</c:v>
                </c:pt>
                <c:pt idx="2">
                  <c:v>Hatchback,
Flex Fuel</c:v>
                </c:pt>
                <c:pt idx="3">
                  <c:v>Crossover,
Factory</c:v>
                </c:pt>
                <c:pt idx="4">
                  <c:v>Crossover,
Hybrid</c:v>
                </c:pt>
                <c:pt idx="5">
                  <c:v>Hybrid</c:v>
                </c:pt>
                <c:pt idx="6">
                  <c:v>Flex Fuel</c:v>
                </c:pt>
                <c:pt idx="7">
                  <c:v>High Perf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5657</c:v>
                </c:pt>
                <c:pt idx="1">
                  <c:v>5657</c:v>
                </c:pt>
                <c:pt idx="2">
                  <c:v>5657</c:v>
                </c:pt>
                <c:pt idx="3">
                  <c:v>2607</c:v>
                </c:pt>
                <c:pt idx="4">
                  <c:v>2563</c:v>
                </c:pt>
                <c:pt idx="5">
                  <c:v>2106</c:v>
                </c:pt>
                <c:pt idx="6">
                  <c:v>2217</c:v>
                </c:pt>
                <c:pt idx="7">
                  <c:v>1821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E71-46EF-A6EC-449BB53016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5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7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</c:v>
                </c:pt>
              </c:strCache>
            </c:strRef>
          </c:tx>
          <c:spPr>
            <a:ln w="25400" cap="flat">
              <a:solidFill>
                <a:srgbClr val="00C2C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2CB"/>
              </a:solidFill>
              <a:ln w="9525" cap="flat">
                <a:solidFill>
                  <a:srgbClr val="00C2CB"/>
                </a:solidFill>
                <a:prstDash val="solid"/>
                <a:round/>
              </a:ln>
              <a:effectLst/>
            </c:spPr>
          </c:marker>
          <c:xVal>
            <c:numRef>
              <c:f>Sheet1!$A$2:$A$44</c:f>
              <c:numCache>
                <c:formatCode>General</c:formatCode>
                <c:ptCount val="43"/>
                <c:pt idx="0">
                  <c:v>12000</c:v>
                </c:pt>
                <c:pt idx="1">
                  <c:v>28000</c:v>
                </c:pt>
                <c:pt idx="2">
                  <c:v>31500</c:v>
                </c:pt>
                <c:pt idx="3">
                  <c:v>36350</c:v>
                </c:pt>
                <c:pt idx="4">
                  <c:v>40650</c:v>
                </c:pt>
                <c:pt idx="5">
                  <c:v>46135</c:v>
                </c:pt>
                <c:pt idx="6">
                  <c:v>34500</c:v>
                </c:pt>
                <c:pt idx="7">
                  <c:v>31200</c:v>
                </c:pt>
                <c:pt idx="8">
                  <c:v>44100</c:v>
                </c:pt>
                <c:pt idx="9">
                  <c:v>39300</c:v>
                </c:pt>
                <c:pt idx="10">
                  <c:v>36900</c:v>
                </c:pt>
                <c:pt idx="11">
                  <c:v>37200</c:v>
                </c:pt>
                <c:pt idx="12">
                  <c:v>39600</c:v>
                </c:pt>
                <c:pt idx="13">
                  <c:v>31500</c:v>
                </c:pt>
                <c:pt idx="14">
                  <c:v>44400</c:v>
                </c:pt>
                <c:pt idx="15">
                  <c:v>37200</c:v>
                </c:pt>
                <c:pt idx="16">
                  <c:v>31500</c:v>
                </c:pt>
                <c:pt idx="17">
                  <c:v>48250</c:v>
                </c:pt>
                <c:pt idx="18">
                  <c:v>43550</c:v>
                </c:pt>
                <c:pt idx="19">
                  <c:v>22000</c:v>
                </c:pt>
                <c:pt idx="20">
                  <c:v>22000</c:v>
                </c:pt>
                <c:pt idx="21">
                  <c:v>22000</c:v>
                </c:pt>
                <c:pt idx="22">
                  <c:v>22000</c:v>
                </c:pt>
                <c:pt idx="23">
                  <c:v>22000</c:v>
                </c:pt>
                <c:pt idx="24">
                  <c:v>22000</c:v>
                </c:pt>
                <c:pt idx="25">
                  <c:v>50000</c:v>
                </c:pt>
                <c:pt idx="26">
                  <c:v>55000</c:v>
                </c:pt>
                <c:pt idx="27">
                  <c:v>60000</c:v>
                </c:pt>
                <c:pt idx="28">
                  <c:v>80000</c:v>
                </c:pt>
                <c:pt idx="29">
                  <c:v>100000</c:v>
                </c:pt>
                <c:pt idx="30">
                  <c:v>120000</c:v>
                </c:pt>
                <c:pt idx="31">
                  <c:v>150000</c:v>
                </c:pt>
                <c:pt idx="32">
                  <c:v>200000</c:v>
                </c:pt>
                <c:pt idx="33">
                  <c:v>250000</c:v>
                </c:pt>
                <c:pt idx="34">
                  <c:v>300000</c:v>
                </c:pt>
                <c:pt idx="35">
                  <c:v>350000</c:v>
                </c:pt>
                <c:pt idx="36">
                  <c:v>450000</c:v>
                </c:pt>
                <c:pt idx="37">
                  <c:v>550000</c:v>
                </c:pt>
                <c:pt idx="38">
                  <c:v>700000</c:v>
                </c:pt>
                <c:pt idx="39">
                  <c:v>1000000</c:v>
                </c:pt>
                <c:pt idx="40">
                  <c:v>1500000</c:v>
                </c:pt>
                <c:pt idx="41">
                  <c:v>2065000</c:v>
                </c:pt>
                <c:pt idx="42">
                  <c:v>1705769</c:v>
                </c:pt>
              </c:numCache>
            </c:numRef>
          </c:xVal>
          <c:yVal>
            <c:numRef>
              <c:f>Sheet1!$B$2:$B$44</c:f>
              <c:numCache>
                <c:formatCode>General</c:formatCode>
                <c:ptCount val="43"/>
                <c:pt idx="0">
                  <c:v>172</c:v>
                </c:pt>
                <c:pt idx="1">
                  <c:v>172</c:v>
                </c:pt>
                <c:pt idx="2">
                  <c:v>172</c:v>
                </c:pt>
                <c:pt idx="3">
                  <c:v>172</c:v>
                </c:pt>
                <c:pt idx="4">
                  <c:v>172</c:v>
                </c:pt>
                <c:pt idx="5">
                  <c:v>172</c:v>
                </c:pt>
                <c:pt idx="6">
                  <c:v>172</c:v>
                </c:pt>
                <c:pt idx="7">
                  <c:v>172</c:v>
                </c:pt>
                <c:pt idx="8">
                  <c:v>172</c:v>
                </c:pt>
                <c:pt idx="9">
                  <c:v>172</c:v>
                </c:pt>
                <c:pt idx="10">
                  <c:v>172</c:v>
                </c:pt>
                <c:pt idx="11">
                  <c:v>172</c:v>
                </c:pt>
                <c:pt idx="12">
                  <c:v>172</c:v>
                </c:pt>
                <c:pt idx="13">
                  <c:v>172</c:v>
                </c:pt>
                <c:pt idx="14">
                  <c:v>172</c:v>
                </c:pt>
                <c:pt idx="15">
                  <c:v>172</c:v>
                </c:pt>
                <c:pt idx="16">
                  <c:v>172</c:v>
                </c:pt>
                <c:pt idx="17">
                  <c:v>320</c:v>
                </c:pt>
                <c:pt idx="18">
                  <c:v>320</c:v>
                </c:pt>
                <c:pt idx="19">
                  <c:v>230</c:v>
                </c:pt>
                <c:pt idx="20">
                  <c:v>230</c:v>
                </c:pt>
                <c:pt idx="21">
                  <c:v>230</c:v>
                </c:pt>
                <c:pt idx="22">
                  <c:v>230</c:v>
                </c:pt>
                <c:pt idx="23">
                  <c:v>230</c:v>
                </c:pt>
                <c:pt idx="24">
                  <c:v>230</c:v>
                </c:pt>
                <c:pt idx="25">
                  <c:v>270</c:v>
                </c:pt>
                <c:pt idx="26">
                  <c:v>290</c:v>
                </c:pt>
                <c:pt idx="27">
                  <c:v>300</c:v>
                </c:pt>
                <c:pt idx="28">
                  <c:v>335</c:v>
                </c:pt>
                <c:pt idx="29">
                  <c:v>380</c:v>
                </c:pt>
                <c:pt idx="30">
                  <c:v>420</c:v>
                </c:pt>
                <c:pt idx="31">
                  <c:v>480</c:v>
                </c:pt>
                <c:pt idx="32">
                  <c:v>550</c:v>
                </c:pt>
                <c:pt idx="33">
                  <c:v>600</c:v>
                </c:pt>
                <c:pt idx="34">
                  <c:v>650</c:v>
                </c:pt>
                <c:pt idx="35">
                  <c:v>700</c:v>
                </c:pt>
                <c:pt idx="36">
                  <c:v>750</c:v>
                </c:pt>
                <c:pt idx="37">
                  <c:v>800</c:v>
                </c:pt>
                <c:pt idx="38">
                  <c:v>880</c:v>
                </c:pt>
                <c:pt idx="39">
                  <c:v>950</c:v>
                </c:pt>
                <c:pt idx="40">
                  <c:v>1001</c:v>
                </c:pt>
                <c:pt idx="41">
                  <c:v>1001</c:v>
                </c:pt>
                <c:pt idx="42">
                  <c:v>1001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2A8-44E4-ABF6-ECFD797FAE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A9BBD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8A9BBD"/>
                    </a:solidFill>
                    <a:latin typeface="Arial"/>
                  </a:rPr>
                  <a:t>Engine Power (HP)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55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A9BBD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8A9BBD"/>
                    </a:solidFill>
                    <a:latin typeface="Arial"/>
                  </a:rPr>
                  <a:t>Price (MSRP $)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($)</c:v>
                </c:pt>
              </c:strCache>
            </c:strRef>
          </c:tx>
          <c:spPr>
            <a:solidFill>
              <a:srgbClr val="39FF1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3AF-45B7-AEB9-3AB4C39643BE}"/>
              </c:ext>
            </c:extLst>
          </c:dPt>
          <c:dPt>
            <c:idx val="1"/>
            <c:invertIfNegative val="0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AF-45B7-AEB9-3AB4C39643BE}"/>
              </c:ext>
            </c:extLst>
          </c:dPt>
          <c:dPt>
            <c:idx val="2"/>
            <c:invertIfNegative val="0"/>
            <c:bubble3D val="0"/>
            <c:spPr>
              <a:solidFill>
                <a:srgbClr val="FF2D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3AF-45B7-AEB9-3AB4C39643BE}"/>
              </c:ext>
            </c:extLst>
          </c:dPt>
          <c:dPt>
            <c:idx val="3"/>
            <c:invertIfNegative val="0"/>
            <c:bubble3D val="0"/>
            <c:spPr>
              <a:solidFill>
                <a:srgbClr val="8A9B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3AF-45B7-AEB9-3AB4C39643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City MPG</c:v>
                </c:pt>
                <c:pt idx="1">
                  <c:v>Engine HP</c:v>
                </c:pt>
                <c:pt idx="2">
                  <c:v>Num. Doors</c:v>
                </c:pt>
                <c:pt idx="3">
                  <c:v>Intercept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542</c:v>
                </c:pt>
                <c:pt idx="1">
                  <c:v>414</c:v>
                </c:pt>
                <c:pt idx="2">
                  <c:v>-4709</c:v>
                </c:pt>
                <c:pt idx="3">
                  <c:v>-59836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AF-45B7-AEB9-3AB4C39643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0F4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435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74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MSRP ($K)</c:v>
                </c:pt>
              </c:strCache>
            </c:strRef>
          </c:tx>
          <c:spPr>
            <a:solidFill>
              <a:srgbClr val="FF2D7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83C-4506-B110-C9762807F76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83C-4506-B110-C9762807F76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83C-4506-B110-C9762807F760}"/>
              </c:ext>
            </c:extLst>
          </c:dPt>
          <c:dPt>
            <c:idx val="3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83C-4506-B110-C9762807F760}"/>
              </c:ext>
            </c:extLst>
          </c:dPt>
          <c:dPt>
            <c:idx val="4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83C-4506-B110-C9762807F760}"/>
              </c:ext>
            </c:extLst>
          </c:dPt>
          <c:dPt>
            <c:idx val="5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83C-4506-B110-C9762807F760}"/>
              </c:ext>
            </c:extLst>
          </c:dPt>
          <c:dPt>
            <c:idx val="6"/>
            <c:invertIfNegative val="0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83C-4506-B110-C9762807F760}"/>
              </c:ext>
            </c:extLst>
          </c:dPt>
          <c:dPt>
            <c:idx val="7"/>
            <c:invertIfNegative val="0"/>
            <c:bubble3D val="0"/>
            <c:spPr>
              <a:solidFill>
                <a:srgbClr val="00C2C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83C-4506-B110-C9762807F760}"/>
              </c:ext>
            </c:extLst>
          </c:dPt>
          <c:dPt>
            <c:idx val="8"/>
            <c:invertIfNegative val="0"/>
            <c:bubble3D val="0"/>
            <c:spPr>
              <a:solidFill>
                <a:srgbClr val="39FF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83C-4506-B110-C9762807F760}"/>
              </c:ext>
            </c:extLst>
          </c:dPt>
          <c:dPt>
            <c:idx val="9"/>
            <c:invertIfNegative val="0"/>
            <c:bubble3D val="0"/>
            <c:spPr>
              <a:solidFill>
                <a:srgbClr val="39FF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183C-4506-B110-C9762807F760}"/>
              </c:ext>
            </c:extLst>
          </c:dPt>
          <c:dPt>
            <c:idx val="10"/>
            <c:invertIfNegative val="0"/>
            <c:bubble3D val="0"/>
            <c:spPr>
              <a:solidFill>
                <a:srgbClr val="39FF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183C-4506-B110-C9762807F760}"/>
              </c:ext>
            </c:extLst>
          </c:dPt>
          <c:dPt>
            <c:idx val="11"/>
            <c:invertIfNegative val="0"/>
            <c:bubble3D val="0"/>
            <c:spPr>
              <a:solidFill>
                <a:srgbClr val="8A9B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183C-4506-B110-C9762807F760}"/>
              </c:ext>
            </c:extLst>
          </c:dPt>
          <c:dPt>
            <c:idx val="12"/>
            <c:invertIfNegative val="0"/>
            <c:bubble3D val="0"/>
            <c:spPr>
              <a:solidFill>
                <a:srgbClr val="39FF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183C-4506-B110-C9762807F760}"/>
              </c:ext>
            </c:extLst>
          </c:dPt>
          <c:dPt>
            <c:idx val="13"/>
            <c:invertIfNegative val="0"/>
            <c:bubble3D val="0"/>
            <c:spPr>
              <a:solidFill>
                <a:srgbClr val="39FF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183C-4506-B110-C9762807F760}"/>
              </c:ext>
            </c:extLst>
          </c:dPt>
          <c:dPt>
            <c:idx val="14"/>
            <c:invertIfNegative val="0"/>
            <c:bubble3D val="0"/>
            <c:spPr>
              <a:solidFill>
                <a:srgbClr val="39FF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183C-4506-B110-C9762807F760}"/>
              </c:ext>
            </c:extLst>
          </c:dPt>
          <c:cat>
            <c:strRef>
              <c:f>Sheet1!$A$2:$A$16</c:f>
              <c:strCache>
                <c:ptCount val="15"/>
                <c:pt idx="0">
                  <c:v>Bugatti</c:v>
                </c:pt>
                <c:pt idx="1">
                  <c:v>Maybach</c:v>
                </c:pt>
                <c:pt idx="2">
                  <c:v>Rolls-Royce</c:v>
                </c:pt>
                <c:pt idx="3">
                  <c:v>Lamborghini</c:v>
                </c:pt>
                <c:pt idx="4">
                  <c:v>McLaren</c:v>
                </c:pt>
                <c:pt idx="5">
                  <c:v>Ferrari</c:v>
                </c:pt>
                <c:pt idx="6">
                  <c:v>Porsche</c:v>
                </c:pt>
                <c:pt idx="7">
                  <c:v>Maserati</c:v>
                </c:pt>
                <c:pt idx="8">
                  <c:v>BMW</c:v>
                </c:pt>
                <c:pt idx="9">
                  <c:v>Tesla</c:v>
                </c:pt>
                <c:pt idx="10">
                  <c:v>Lexus</c:v>
                </c:pt>
                <c:pt idx="11">
                  <c:v>Avg Market</c:v>
                </c:pt>
                <c:pt idx="12">
                  <c:v>Toyota</c:v>
                </c:pt>
                <c:pt idx="13">
                  <c:v>Honda</c:v>
                </c:pt>
                <c:pt idx="14">
                  <c:v>Ford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1757</c:v>
                </c:pt>
                <c:pt idx="1">
                  <c:v>546</c:v>
                </c:pt>
                <c:pt idx="2">
                  <c:v>351</c:v>
                </c:pt>
                <c:pt idx="3">
                  <c:v>332</c:v>
                </c:pt>
                <c:pt idx="4">
                  <c:v>240</c:v>
                </c:pt>
                <c:pt idx="5">
                  <c:v>238</c:v>
                </c:pt>
                <c:pt idx="6">
                  <c:v>102</c:v>
                </c:pt>
                <c:pt idx="7">
                  <c:v>114</c:v>
                </c:pt>
                <c:pt idx="8">
                  <c:v>62</c:v>
                </c:pt>
                <c:pt idx="9">
                  <c:v>85</c:v>
                </c:pt>
                <c:pt idx="10">
                  <c:v>48</c:v>
                </c:pt>
                <c:pt idx="11">
                  <c:v>50</c:v>
                </c:pt>
                <c:pt idx="12">
                  <c:v>31</c:v>
                </c:pt>
                <c:pt idx="13">
                  <c:v>27</c:v>
                </c:pt>
                <c:pt idx="14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183C-4506-B110-C9762807F7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Highway MPG</c:v>
                </c:pt>
              </c:strCache>
            </c:strRef>
          </c:tx>
          <c:spPr>
            <a:ln w="38100" cap="flat">
              <a:solidFill>
                <a:srgbClr val="39FF1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9FF14"/>
              </a:solidFill>
              <a:ln w="9525" cap="flat">
                <a:solidFill>
                  <a:srgbClr val="39FF14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1990</c:v>
                </c:pt>
                <c:pt idx="1">
                  <c:v>1992</c:v>
                </c:pt>
                <c:pt idx="2">
                  <c:v>1994</c:v>
                </c:pt>
                <c:pt idx="3">
                  <c:v>1996</c:v>
                </c:pt>
                <c:pt idx="4">
                  <c:v>1998</c:v>
                </c:pt>
                <c:pt idx="5">
                  <c:v>2000</c:v>
                </c:pt>
                <c:pt idx="6">
                  <c:v>2002</c:v>
                </c:pt>
                <c:pt idx="7">
                  <c:v>2004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23.5</c:v>
                </c:pt>
                <c:pt idx="1">
                  <c:v>24.1</c:v>
                </c:pt>
                <c:pt idx="2">
                  <c:v>24.8</c:v>
                </c:pt>
                <c:pt idx="3">
                  <c:v>25.3</c:v>
                </c:pt>
                <c:pt idx="4">
                  <c:v>25.9</c:v>
                </c:pt>
                <c:pt idx="5">
                  <c:v>25.7</c:v>
                </c:pt>
                <c:pt idx="6">
                  <c:v>23.4</c:v>
                </c:pt>
                <c:pt idx="7">
                  <c:v>23.2</c:v>
                </c:pt>
                <c:pt idx="8">
                  <c:v>24.8</c:v>
                </c:pt>
                <c:pt idx="9">
                  <c:v>21.2</c:v>
                </c:pt>
                <c:pt idx="10">
                  <c:v>22.8</c:v>
                </c:pt>
                <c:pt idx="11">
                  <c:v>24.5</c:v>
                </c:pt>
                <c:pt idx="12">
                  <c:v>25.3</c:v>
                </c:pt>
                <c:pt idx="13">
                  <c:v>26.4</c:v>
                </c:pt>
                <c:pt idx="14">
                  <c:v>27.1</c:v>
                </c:pt>
                <c:pt idx="15">
                  <c:v>27.8</c:v>
                </c:pt>
                <c:pt idx="16">
                  <c:v>28.2</c:v>
                </c:pt>
                <c:pt idx="17">
                  <c:v>28.84</c:v>
                </c:pt>
                <c:pt idx="18">
                  <c:v>28.86</c:v>
                </c:pt>
                <c:pt idx="19">
                  <c:v>28.74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443-4FF8-9C57-9DB5A4084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5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744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Cylinders</c:v>
                </c:pt>
              </c:strCache>
            </c:strRef>
          </c:tx>
          <c:spPr>
            <a:ln w="25400" cap="flat">
              <a:solidFill>
                <a:srgbClr val="00C2C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2CB"/>
              </a:solidFill>
              <a:ln w="9525" cap="flat">
                <a:solidFill>
                  <a:srgbClr val="00C2CB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95</c:v>
                </c:pt>
                <c:pt idx="1">
                  <c:v>42</c:v>
                </c:pt>
                <c:pt idx="2">
                  <c:v>35</c:v>
                </c:pt>
                <c:pt idx="3">
                  <c:v>28</c:v>
                </c:pt>
                <c:pt idx="4">
                  <c:v>25</c:v>
                </c:pt>
                <c:pt idx="5">
                  <c:v>18</c:v>
                </c:pt>
                <c:pt idx="6">
                  <c:v>16</c:v>
                </c:pt>
                <c:pt idx="7">
                  <c:v>14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3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9C3-4FF2-84FD-84FDD2BDA4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554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698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182880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Shape 2"/>
          <p:cNvSpPr/>
          <p:nvPr/>
        </p:nvSpPr>
        <p:spPr>
          <a:xfrm>
            <a:off x="-509451" y="-1074420"/>
            <a:ext cx="2286000" cy="2286000"/>
          </a:xfrm>
          <a:prstGeom prst="ellipse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3200400"/>
            <a:ext cx="1371600" cy="1371600"/>
          </a:xfrm>
          <a:prstGeom prst="ellipse">
            <a:avLst/>
          </a:prstGeom>
          <a:solidFill>
            <a:srgbClr val="FF2D78">
              <a:alpha val="20000"/>
            </a:srgbClr>
          </a:solidFill>
          <a:ln w="12700">
            <a:solidFill>
              <a:srgbClr val="FF2D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OF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200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 FEATURES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Consumer Demand &amp; Optimizing Automobile Pricing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–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Mothish 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548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11,159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RECORDS ANALYZED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2011680"/>
            <a:ext cx="2926080" cy="0"/>
          </a:xfrm>
          <a:prstGeom prst="line">
            <a:avLst/>
          </a:prstGeom>
          <a:noFill/>
          <a:ln w="12700">
            <a:solidFill>
              <a:srgbClr val="00C2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2331720"/>
            <a:ext cx="1188720" cy="11430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2377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12064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46520" y="2331720"/>
            <a:ext cx="1188720" cy="11430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2377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4652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Tasks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0" y="2331720"/>
            <a:ext cx="1188720" cy="11430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0" y="23774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$50K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77240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Market Price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Microsoft Excel · Canva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Techniques: Regression · Descriptive Stats · Data Visualization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41732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7315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241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11,159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Observations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72968" y="914400"/>
            <a:ext cx="2651760" cy="141732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914400"/>
            <a:ext cx="2651760" cy="73152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0" name="Text 8"/>
          <p:cNvSpPr/>
          <p:nvPr/>
        </p:nvSpPr>
        <p:spPr>
          <a:xfrm>
            <a:off x="3172968" y="10241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172968" y="1737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Variables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25896" y="914400"/>
            <a:ext cx="2651760" cy="141732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914400"/>
            <a:ext cx="265176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6025896" y="10241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8,172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25896" y="1737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After Cleaning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64008" cy="21031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" y="3017520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71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Make, Model, Year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3328416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82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" y="3639312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93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HP &amp; Cylinders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" y="3950208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04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&amp; Highway MPG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" y="4261104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15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7472" y="4572000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526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MSRP (Price)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2606040"/>
            <a:ext cx="64008" cy="21031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65192" y="3017520"/>
            <a:ext cx="91440" cy="91440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971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'Number of Doors' filled logically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65192" y="3328416"/>
            <a:ext cx="91440" cy="91440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3282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Sedans assumed 4 doors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65192" y="3639312"/>
            <a:ext cx="91440" cy="91440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3593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Coupes assumed 2 doors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65192" y="3950208"/>
            <a:ext cx="91440" cy="91440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39" name="Text 37"/>
          <p:cNvSpPr/>
          <p:nvPr/>
        </p:nvSpPr>
        <p:spPr>
          <a:xfrm>
            <a:off x="5166360" y="39044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retained for analysis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65192" y="4261104"/>
            <a:ext cx="91440" cy="91440"/>
          </a:xfrm>
          <a:prstGeom prst="ellipse">
            <a:avLst/>
          </a:prstGeom>
          <a:solidFill>
            <a:srgbClr val="FF2D78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4215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8,172 clean records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1 · POPULARITY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011680" cy="11430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5,657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Crossover,Flex Fuel,Performance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04872" y="914400"/>
            <a:ext cx="2011680" cy="11430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960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5,657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50592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Fuel, Diesel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81144" y="914400"/>
            <a:ext cx="2011680" cy="11430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960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🚘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26864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5,657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6864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Hatchback, Flex Fuel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57416" y="914400"/>
            <a:ext cx="2011680" cy="11430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960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03136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1,545 avg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03136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8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28600" y="2176272"/>
          <a:ext cx="8686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Edmunds.com popularity data · Grand Total avg: 1,499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2 · ENGINE POWER vs PRICE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77724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86868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875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FINDING: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987552"/>
            <a:ext cx="7086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 confirmed — every +1 HP adds ~$414 to vehicle price (p &lt; 0.001). 1001 HP cars priced $1.5M–$2.1M.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28600" y="1828800"/>
          <a:ext cx="54864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989320" y="1828800"/>
            <a:ext cx="64008" cy="315468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0" name="Text 7"/>
          <p:cNvSpPr/>
          <p:nvPr/>
        </p:nvSpPr>
        <p:spPr>
          <a:xfrm>
            <a:off x="617220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STATS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26480" y="2331720"/>
            <a:ext cx="2834640" cy="4572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99632" y="2359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R²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99632" y="253288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0.439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06640" y="23591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explains 44% of price variance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126480" y="2862072"/>
            <a:ext cx="2834640" cy="4572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99632" y="28895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HP coef.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99632" y="306324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+$414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406640" y="288950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horsepower (p &lt; 0.001)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26480" y="3392424"/>
            <a:ext cx="2834640" cy="4572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99632" y="34198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MPG coef.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99632" y="359359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+$542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406640" y="341985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MPG unit (p &lt; 0.001)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126480" y="3922776"/>
            <a:ext cx="2834640" cy="4572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199632" y="3950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Num. Doors coef.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99632" y="412394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−$4,709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406640" y="39502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door (negative effect)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26480" y="4453128"/>
            <a:ext cx="2834640" cy="4572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199632" y="4480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199632" y="465429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8,172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406640" y="44805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 in model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3 · KEY PRICE DRIVERS (REGRESSION)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914400"/>
          <a:ext cx="5029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60120"/>
            <a:ext cx="3291840" cy="123444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960120"/>
            <a:ext cx="64008" cy="12344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🔋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263640" y="1005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HP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63640" y="12984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+$414 per HP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significant positive driver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2313432"/>
            <a:ext cx="3291840" cy="123444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313432"/>
            <a:ext cx="64008" cy="12344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0" y="23591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⛽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263640" y="23591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MPG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63640" y="2651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+$542 per MPG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fuel efficiency = premium price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3666744"/>
            <a:ext cx="3291840" cy="123444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666744"/>
            <a:ext cx="64008" cy="1234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0" y="371246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🚪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263640" y="37124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Doors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40050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−$4,709 per door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doors = lower price segment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R² = 0.439 · F-stat p ≈ 0 · n = 8,172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4 · MANUFACTURER PRICE TIERS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96012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64008" cy="96012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ULTRA-LUXURY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Bugatti · Maybach · Rolls-Royce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$1.76M  |  $546K  |  $351K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" y="2011680"/>
            <a:ext cx="8686800" cy="96012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011680"/>
            <a:ext cx="64008" cy="9601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3591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Ferrari · Lamborghini · McLaren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$238K  |  $332K  |  $240K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8600" y="3108960"/>
            <a:ext cx="8686800" cy="96012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108960"/>
            <a:ext cx="64008" cy="9601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MAINSTREAM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4564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· Honda · Ford · Mazda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$31K  |  $27K  |  $33K  |  $23K</a:t>
            </a:r>
            <a:endParaRPr lang="en-US" sz="16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28600" y="4251960"/>
          <a:ext cx="8686800" cy="73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274320" y="498348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 MSRP across all manufacturers: ~$50,043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5 · FUEL EFFICIENCY TRENDS (1990–2017)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91440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914400"/>
            <a:ext cx="2834640" cy="987552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44768" y="960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🏁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675120" y="960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28.86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675120" y="14173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MPG (2016)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2011680"/>
            <a:ext cx="2834640" cy="987552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44768" y="2057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675120" y="2057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21.16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675120" y="2514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MPG (2007)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0760" y="3108960"/>
            <a:ext cx="2834640" cy="987552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44768" y="3154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675120" y="3154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27.07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675120" y="36118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 MPG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28600" y="4251960"/>
            <a:ext cx="8686800" cy="6858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28600" y="4251960"/>
            <a:ext cx="86868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43159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Fuel efficiency improved steadily from 1990–2017, driven by tech innovation &amp; environmental regulations. Lowest dip in 2007 reflects market shift toward larger, less efficient vehicles.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CYLINDERS vs FUEL EFFICIENCY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91440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914400"/>
            <a:ext cx="64008" cy="32004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6" name="Text 3"/>
          <p:cNvSpPr/>
          <p:nvPr/>
        </p:nvSpPr>
        <p:spPr>
          <a:xfrm>
            <a:off x="5989320" y="914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833872" y="1444752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8" name="Text 5"/>
          <p:cNvSpPr/>
          <p:nvPr/>
        </p:nvSpPr>
        <p:spPr>
          <a:xfrm>
            <a:off x="6053328" y="13898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coefficient: −0.59 (moderate negative)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33872" y="1956816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7"/>
          <p:cNvSpPr/>
          <p:nvPr/>
        </p:nvSpPr>
        <p:spPr>
          <a:xfrm>
            <a:off x="6053328" y="19019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cylinders = worse fuel economy (expected)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33872" y="2468880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Text 9"/>
          <p:cNvSpPr/>
          <p:nvPr/>
        </p:nvSpPr>
        <p:spPr>
          <a:xfrm>
            <a:off x="6053328" y="241401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4-cylinder engines: best efficiency for mainstream segment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33872" y="2980944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053328" y="29260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Electric/hybrid vehicles (0 cylinders) show exceptional MPG (80–100+)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33872" y="3493008"/>
            <a:ext cx="91440" cy="9144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6" name="Text 13"/>
          <p:cNvSpPr/>
          <p:nvPr/>
        </p:nvSpPr>
        <p:spPr>
          <a:xfrm>
            <a:off x="6053328" y="343814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16-cylinder exotics drop to ~14 MPG highway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06440" y="4160520"/>
            <a:ext cx="3108960" cy="77724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COEFFICIENT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0" y="44622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−0.590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CONCLUSIONS &amp; BUSINESS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18288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83464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E5FF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0241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Power = Premium Price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HP adds ~$414 to MSRP. High-performance vehicles command significantly higher price points.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834640" cy="18288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83464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9FF14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749040" y="10241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Efficiency Sells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MPG adds ~$542 per unit to price. Urban fuel economy is valued by consumers and commands a market premium.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834640" cy="182880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14400"/>
            <a:ext cx="2834640" cy="54864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005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2D78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20840" y="10241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Segmentation Matters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50876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Crossover, Flex Fuel, &amp; Performance combos lead in popularity (5,657 avg views). Segment targeting is crucial.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4206240" cy="173736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880360"/>
            <a:ext cx="42062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35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4400" y="299008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Pricing Polarized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347472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Bugatti ($1.76M) vs Toyota ($31K) — ultra-luxury and volume segments demand completely different strategies.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90872" y="2880360"/>
            <a:ext cx="4206240" cy="1737360"/>
          </a:xfrm>
          <a:prstGeom prst="rect">
            <a:avLst/>
          </a:prstGeom>
          <a:solidFill>
            <a:srgbClr val="1A2744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2880360"/>
            <a:ext cx="420624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6" name="Text 24"/>
          <p:cNvSpPr/>
          <p:nvPr/>
        </p:nvSpPr>
        <p:spPr>
          <a:xfrm>
            <a:off x="4782312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CB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376672" y="299008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Efficiency Is Improving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82312" y="347472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MPG grew from ~23.5 (1990) to 28.86 (2016) — driven by tech innovation and emission regulations.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-1371600"/>
            <a:ext cx="4023360" cy="4023360"/>
          </a:xfrm>
          <a:prstGeom prst="ellipse">
            <a:avLst/>
          </a:prstGeom>
          <a:solidFill>
            <a:srgbClr val="00C2CB">
              <a:alpha val="10000"/>
            </a:srgbClr>
          </a:solidFill>
          <a:ln w="254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00400"/>
            <a:ext cx="2743200" cy="2743200"/>
          </a:xfrm>
          <a:prstGeom prst="ellipse">
            <a:avLst/>
          </a:prstGeom>
          <a:solidFill>
            <a:srgbClr val="FF2D78">
              <a:alpha val="12000"/>
            </a:srgbClr>
          </a:solidFill>
          <a:ln w="19050">
            <a:solidFill>
              <a:srgbClr val="FF2D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800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2286000" y="2423160"/>
            <a:ext cx="45720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Car Features — Final Project 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Mothish 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11,159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4553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80360" y="4553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0" y="4553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178040" y="4553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667</Words>
  <Application>Microsoft Office PowerPoint</Application>
  <PresentationFormat>On-screen Show (16:9)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Car Features</dc:title>
  <dc:subject>PptxGenJS Presentation</dc:subject>
  <dc:creator>PptxGenJS</dc:creator>
  <cp:lastModifiedBy>mothish reddy</cp:lastModifiedBy>
  <cp:revision>5</cp:revision>
  <dcterms:created xsi:type="dcterms:W3CDTF">2026-06-07T05:47:29Z</dcterms:created>
  <dcterms:modified xsi:type="dcterms:W3CDTF">2026-06-07T06:09:50Z</dcterms:modified>
</cp:coreProperties>
</file>